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377440"/>
            <a:ext cx="4023360" cy="38100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6D0A8"/>
                </a:solidFill>
                <a:latin typeface="Segoe UI"/>
              </a:rPr>
              <a:t>ANALYTICS ENGINEERING · TPF TECHNICAL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4173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E8ECF8"/>
                </a:solidFill>
                <a:latin typeface="Segoe UI"/>
              </a:rPr>
              <a:t>Chef Master — Mobile Game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5B8CFF"/>
                </a:solidFill>
                <a:latin typeface="Segoe UI"/>
              </a:rPr>
              <a:t>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9FB0D6"/>
                </a:solidFill>
                <a:latin typeface="Segoe UI"/>
              </a:rPr>
              <a:t>An end-to-end </a:t>
            </a:r>
            <a:r>
              <a:rPr sz="1900" b="1">
                <a:solidFill>
                  <a:srgbClr val="E8ECF8"/>
                </a:solidFill>
                <a:latin typeface="Segoe UI"/>
              </a:rPr>
              <a:t>dbt + BigQuery + Semantic/BI</a:t>
            </a:r>
            <a:r>
              <a:rPr sz="1900" b="0">
                <a:solidFill>
                  <a:srgbClr val="9FB0D6"/>
                </a:solidFill>
                <a:latin typeface="Segoe UI"/>
              </a:rPr>
              <a:t> platform answering one question: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8ECF8"/>
                </a:solidFill>
                <a:latin typeface="Segoe UI"/>
              </a:rPr>
              <a:t>“Are we acquiring players profitably?”  →  D30 ROAS / LTV:CAC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23360"/>
            <a:ext cx="1874519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3707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dbt Core/Fusion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023360"/>
            <a:ext cx="1874519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03707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BigQuery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023360"/>
            <a:ext cx="1874519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03707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MetricFlow SL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023360"/>
            <a:ext cx="1874519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03707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GitHub CI/CD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4023360"/>
            <a:ext cx="1874519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03707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PII hashing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AA3"/>
                </a:solidFill>
                <a:latin typeface="Consolas"/>
              </a:rPr>
              <a:t>Sources unified: Firebase/GA4 · Adjust · Meta Ads · Unity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6D0A8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What I'll walk 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≈90 min · 5 min intro · 15 min per pillar · 10 min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7665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800" b="1">
                <a:solidFill>
                  <a:srgbClr val="E8ECF8"/>
                </a:solidFill>
                <a:latin typeface="Segoe UI"/>
              </a:rPr>
              <a:t>1 · Data Modeling &amp; Architecture</a:t>
            </a:r>
            <a:r>
              <a:rPr sz="1800" b="0">
                <a:solidFill>
                  <a:srgbClr val="9FB0D6"/>
                </a:solidFill>
                <a:latin typeface="Segoe UI"/>
              </a:rPr>
              <a:t>  — medallion layers + dimensional marts + ERD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800" b="1">
                <a:solidFill>
                  <a:srgbClr val="E8ECF8"/>
                </a:solidFill>
                <a:latin typeface="Segoe UI"/>
              </a:rPr>
              <a:t>2 · Data Transformation</a:t>
            </a:r>
            <a:r>
              <a:rPr sz="1800" b="0">
                <a:solidFill>
                  <a:srgbClr val="9FB0D6"/>
                </a:solidFill>
                <a:latin typeface="Segoe UI"/>
              </a:rPr>
              <a:t>  — incremental models, macros, dedup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800" b="1">
                <a:solidFill>
                  <a:srgbClr val="E8ECF8"/>
                </a:solidFill>
                <a:latin typeface="Segoe UI"/>
              </a:rPr>
              <a:t>3 · Data Governance</a:t>
            </a:r>
            <a:r>
              <a:rPr sz="1800" b="0">
                <a:solidFill>
                  <a:srgbClr val="9FB0D6"/>
                </a:solidFill>
                <a:latin typeface="Segoe UI"/>
              </a:rPr>
              <a:t>  — quality tests + PII security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800" b="1">
                <a:solidFill>
                  <a:srgbClr val="E8ECF8"/>
                </a:solidFill>
                <a:latin typeface="Segoe UI"/>
              </a:rPr>
              <a:t>4 · Data Insight</a:t>
            </a:r>
            <a:r>
              <a:rPr sz="1800" b="0">
                <a:solidFill>
                  <a:srgbClr val="9FB0D6"/>
                </a:solidFill>
                <a:latin typeface="Segoe UI"/>
              </a:rPr>
              <a:t>  — semantic layer, BI, the headline metric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800" b="1">
                <a:solidFill>
                  <a:srgbClr val="E8ECF8"/>
                </a:solidFill>
                <a:latin typeface="Segoe UI"/>
              </a:rPr>
              <a:t>5 · DataOps</a:t>
            </a:r>
            <a:r>
              <a:rPr sz="1800" b="0">
                <a:solidFill>
                  <a:srgbClr val="9FB0D6"/>
                </a:solidFill>
                <a:latin typeface="Segoe UI"/>
              </a:rPr>
              <a:t>  — branching, CI/CD, releases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874519"/>
            <a:ext cx="342900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2039111"/>
            <a:ext cx="50800" cy="1545335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2039111"/>
            <a:ext cx="297180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🎯 The business problem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One quantifiable metric: D30 ROAS. ≥ 1 ⇒ a campaign pays back. Everything else is a driver of, or context for, that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977639"/>
            <a:ext cx="3429000" cy="2011680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4142231"/>
            <a:ext cx="50800" cy="1682496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4142231"/>
            <a:ext cx="2971800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🎁 Bonus section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Anticipated interviewer Q&amp;A with model answers — modeling, transformation, governance, insight, DataOps, and live “what-if” extensions.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6D0A8"/>
                </a:solidFill>
                <a:latin typeface="Segoe UI"/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One meaningful, quantifiable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Driver metrics: eCPI · CTR/CVR · ARPDAU · ARPPU · retention · cohort LTV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200400" cy="1463040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93392"/>
            <a:ext cx="50800" cy="1133856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93392"/>
            <a:ext cx="274320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E8ECF8"/>
                </a:solidFill>
                <a:latin typeface="Segoe UI"/>
              </a:rPr>
              <a:t>D30 ROAS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Cohort revenue ÷ ad spend. ≥ 1 ⇒ the campaign pays back inside the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828800"/>
            <a:ext cx="3200400" cy="1463040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993392"/>
            <a:ext cx="50800" cy="113385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993392"/>
            <a:ext cx="274320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E8ECF8"/>
                </a:solidFill>
                <a:latin typeface="Segoe UI"/>
              </a:rPr>
              <a:t>LTV : CAC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Long-horizon profitability the early ROAS window can't yet see.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28800"/>
            <a:ext cx="3794760" cy="1463040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993392"/>
            <a:ext cx="50800" cy="1133856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993392"/>
            <a:ext cx="333756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E8ECF8"/>
                </a:solidFill>
                <a:latin typeface="Segoe UI"/>
              </a:rPr>
              <a:t>Why it matters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Directly drives the UA budget: scale winners, cut losers, by network / campaign / geo.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20440"/>
            <a:ext cx="10561320" cy="2468880"/>
          </a:xfrm>
          <a:prstGeom prst="roundRect">
            <a:avLst/>
          </a:prstGeom>
          <a:solidFill>
            <a:srgbClr val="070C1C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85032"/>
            <a:ext cx="10149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FE0FF"/>
                </a:solidFill>
                <a:latin typeface="Consolas"/>
              </a:rPr>
              <a:t>-- The headline query  (marts.ua_performance_daily)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FE0FF"/>
                </a:solidFill>
                <a:latin typeface="Consolas"/>
              </a:rPr>
              <a:t>SELECT network,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FE0FF"/>
                </a:solidFill>
                <a:latin typeface="Consolas"/>
              </a:rPr>
              <a:t>       SUM(spend)                                              AS spend,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FE0FF"/>
                </a:solidFill>
                <a:latin typeface="Consolas"/>
              </a:rPr>
              <a:t>       SAFE_DIVIDE(SUM(cohort_revenue),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FE0FF"/>
                </a:solidFill>
                <a:latin typeface="Consolas"/>
              </a:rPr>
              <a:t>                   NULLIF(SUM(spend), 0))                      AS roas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FE0FF"/>
                </a:solidFill>
                <a:latin typeface="Consolas"/>
              </a:rPr>
              <a:t>FROM   marts.ua_performance_daily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FE0FF"/>
                </a:solidFill>
                <a:latin typeface="Consolas"/>
              </a:rPr>
              <a:t>WHERE  date &gt;= DATE_SUB(CURRENT_DATE(), INTERVAL 14 DAY)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FE0FF"/>
                </a:solidFill>
                <a:latin typeface="Consolas"/>
              </a:rPr>
              <a:t>GROUP BY network ORDER BY spend DESC;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6D0A8"/>
                </a:solidFill>
                <a:latin typeface="Segoe UI"/>
              </a:rPr>
              <a:t>PILLAR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Medallion layers + dimensional marts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ERD + DAG: docs/architecture.md · mart reference: models/marts/README.md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965960" cy="868680"/>
          </a:xfrm>
          <a:prstGeom prst="roundRect">
            <a:avLst/>
          </a:prstGeom>
          <a:solidFill>
            <a:srgbClr val="16203F"/>
          </a:solidFill>
          <a:ln w="19050">
            <a:solidFill>
              <a:srgbClr val="6B7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965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ECF8"/>
                </a:solidFill>
                <a:latin typeface="Consolas"/>
              </a:rPr>
              <a:t>Firebase · Adjust · Meta · 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288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8CFF"/>
                </a:solidFill>
                <a:latin typeface="Segoe U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1828800"/>
            <a:ext cx="1965960" cy="868680"/>
          </a:xfrm>
          <a:prstGeom prst="roundRect">
            <a:avLst/>
          </a:prstGeom>
          <a:solidFill>
            <a:srgbClr val="16203F"/>
          </a:solidFill>
          <a:ln w="19050">
            <a:solidFill>
              <a:srgbClr val="FF6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828800"/>
            <a:ext cx="1965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ECF8"/>
                </a:solidFill>
                <a:latin typeface="Consolas"/>
              </a:rPr>
              <a:t>BRONZE
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8288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8CFF"/>
                </a:solidFill>
                <a:latin typeface="Segoe U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828800"/>
            <a:ext cx="1965960" cy="868680"/>
          </a:xfrm>
          <a:prstGeom prst="roundRect">
            <a:avLst/>
          </a:prstGeom>
          <a:solidFill>
            <a:srgbClr val="16203F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828800"/>
            <a:ext cx="1965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ECF8"/>
                </a:solidFill>
                <a:latin typeface="Consolas"/>
              </a:rPr>
              <a:t>SILVER
staging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18288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8CFF"/>
                </a:solidFill>
                <a:latin typeface="Segoe U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14616" y="1828800"/>
            <a:ext cx="1965960" cy="868680"/>
          </a:xfrm>
          <a:prstGeom prst="roundRect">
            <a:avLst/>
          </a:prstGeom>
          <a:solidFill>
            <a:srgbClr val="16203F"/>
          </a:solidFill>
          <a:ln w="19050">
            <a:solidFill>
              <a:srgbClr val="26D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1828800"/>
            <a:ext cx="1965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ECF8"/>
                </a:solidFill>
                <a:latin typeface="Consolas"/>
              </a:rPr>
              <a:t>GOLD
incremental marts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8288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8CFF"/>
                </a:solidFill>
                <a:latin typeface="Segoe U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45168" y="1828800"/>
            <a:ext cx="1965960" cy="868680"/>
          </a:xfrm>
          <a:prstGeom prst="roundRect">
            <a:avLst/>
          </a:prstGeom>
          <a:solidFill>
            <a:srgbClr val="16203F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828800"/>
            <a:ext cx="1965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ECF8"/>
                </a:solidFill>
                <a:latin typeface="Consolas"/>
              </a:rPr>
              <a:t>Semantic Layer
+ BI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063240"/>
            <a:ext cx="3429000" cy="2651760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227832"/>
            <a:ext cx="50800" cy="2322576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227832"/>
            <a:ext cx="297180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🥈 Silver · staging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One model per source object: type-cast, snake_case, flatten GA4 structs, hash PII, light dedup. Cheap views, always fresh. No business logic.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063240"/>
            <a:ext cx="3429000" cy="2651760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227832"/>
            <a:ext cx="50800" cy="2322576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227832"/>
            <a:ext cx="297180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🥇 Gold · marts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9 business facts at a documented daily grain. Incremental tables, partitioned by date + clustered on hot keys. Grain-tested. The only layer BI touches.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063240"/>
            <a:ext cx="3337560" cy="2651760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227832"/>
            <a:ext cx="50800" cy="2322576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227832"/>
            <a:ext cx="2880360" cy="234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🔭 Analytics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Deeper player-behaviour exploration on the unified stg_events table.
Conformed dims: date · app · platform · geo · network · app_version · spender_segment.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8CFF"/>
                </a:solidFill>
                <a:latin typeface="Segoe UI"/>
              </a:rPr>
              <a:t>PILLAR 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 Modeling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Evidence: docs/architecture.md · models/marts/README.md · marts.yml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84832"/>
            <a:ext cx="50800" cy="1545335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🏛️ Layered &amp; dimensional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Bronze→Silver→Gold; Kimball facts with conformed dimensions so ROAS/ARPDAU/LTV slice identically across every mart.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50800" cy="1545335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📏 Long-format facts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spender_segment, step_num, days_since_install are ROWS — new segments/checkpoints need no schema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42231"/>
            <a:ext cx="50800" cy="1545335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⚙️ Tuned storage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partition_by=date, cluster_by on hot keys, on_schema_change='append_new_columns'.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142231"/>
            <a:ext cx="50800" cy="1545335"/>
          </a:xfrm>
          <a:prstGeom prst="rect">
            <a:avLst/>
          </a:prstGeom>
          <a:solidFill>
            <a:srgbClr val="FF6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📚 Documented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Grain, source-of-truth precedence &amp; caveats per mart; ERD + DAG; persist_docs pushes descriptions to BigQuery.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8CFF"/>
                </a:solidFill>
                <a:latin typeface="Segoe UI"/>
              </a:rPr>
              <a:t>PILLAR 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Live: dbt build -s +iap_arpdau_daily · macros/ · models/staging/firebase/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84832"/>
            <a:ext cx="50800" cy="1545335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🔁 Incremental everywhere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6 marts + staging on insert_overwrite with 14/44-day windows — idempotent, absorbs late-arriving Adjust/Firebase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50800" cy="1545335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🧩 Macros / DRY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ga4_flatten_event_columns() removes ~120 duplicated lines; iap.sql = one revenue definition; meta_get_action().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42231"/>
            <a:ext cx="50800" cy="1545335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🪟 Window-function dedup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stg_events forward-fills level_id &amp; derives prev/next level via run-numbering; cohorts via row_number().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142231"/>
            <a:ext cx="50800" cy="1545335"/>
          </a:xfrm>
          <a:prstGeom prst="rect">
            <a:avLst/>
          </a:prstGeom>
          <a:solidFill>
            <a:srgbClr val="FF6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📦 Packages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dbt_utils for surrogate keys, range &amp; grain tests; codegen; audit_helper for refactor parity.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8CFF"/>
                </a:solidFill>
                <a:latin typeface="Segoe UI"/>
              </a:rPr>
              <a:t>PILLAR 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 Governance — Quality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Found &amp; fixed: retention_cohorts summed coin `amount` as USD → fixed via one iap_value_usd()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84832"/>
            <a:ext cx="50800" cy="1545335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✅ Quality, layered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Grain unique_combination, ranges, accepted_values, source freshness, singular + unit tests (logic checks, no warehouse).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50800" cy="1545335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🔐 PII pseudonymisation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Salted SHA-256 on user_id in staging — raw id never persisted, deterministic so joins still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42231"/>
            <a:ext cx="50800" cy="1545335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🛡️ Warehouse controls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BigQuery policy tags + dynamic masking, authorized views, grants-as-code, row-level security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142231"/>
            <a:ext cx="50800" cy="1545335"/>
          </a:xfrm>
          <a:prstGeom prst="rect">
            <a:avLst/>
          </a:prstGeom>
          <a:solidFill>
            <a:srgbClr val="FF6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🔑 Secrets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All connection details via env_var(); keyless OIDC in CI; *.json/.bkp/.env git-ignored.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8CFF"/>
                </a:solidFill>
                <a:latin typeface="Segoe UI"/>
              </a:rPr>
              <a:t>PILLAR 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Evidence: models/semantic/ · models/exposures.yml · docs/metrics_dictionary.md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84832"/>
            <a:ext cx="50800" cy="1545335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📊 Semantic Layer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MetricFlow metrics: roas, ecpi, ctr/cvr, arpdau — defined once as numerator/denominator. Never “AVG a rate”.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50800" cy="1545335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🖥️ BI exposures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4 dashboards wired into the dbt DAG (UA/ROAS, LTV &amp; Retention, Creative, Engagement) — lineage warehouse → BI.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42231"/>
            <a:ext cx="50800" cy="1545335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📖 Metrics dictionary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Every metric: definition, SQL logic, business impact — and why Adjust/Unity/Meta scopes don't reconcile.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142231"/>
            <a:ext cx="50800" cy="1545335"/>
          </a:xfrm>
          <a:prstGeom prst="rect">
            <a:avLst/>
          </a:prstGeom>
          <a:solidFill>
            <a:srgbClr val="FF6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🧮 Recipe book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Ready queries: ROAS, cohort LTV curves, retention, creative leaderboard, funnels.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8CFF"/>
                </a:solidFill>
                <a:latin typeface="Segoe UI"/>
              </a:rPr>
              <a:t>PILLAR 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Evidence: .github/workflows/ci.yml + cd.yml · .sqlfluff · .pre-commit-config.yaml · docs/dataops.md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84832"/>
            <a:ext cx="50800" cy="1545335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🌿 Trunk-based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Protected main; short-lived branches; PR + green CI + CODEOWNERS review; squash-merge; tagged releases.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50800" cy="1545335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🤖 CI on every PR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OIDC auth → dbt parse → sqlfluff → Slim CI build into a throwaway dataset → tests → drop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42231"/>
            <a:ext cx="50800" cy="1545335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🚀 Gated CD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Merge to main → freshness → dbt build --target prod (approval gate) → publish manifest + docs.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142231"/>
            <a:ext cx="50800" cy="1545335"/>
          </a:xfrm>
          <a:prstGeom prst="rect">
            <a:avLst/>
          </a:prstGeom>
          <a:solidFill>
            <a:srgbClr val="FF6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🧹 Pre-commit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sqlfluff, secret detection, dbt-checkpoint (marts must have description + tests).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6D0A8"/>
                </a:solidFill>
                <a:latin typeface="Segoe UI"/>
              </a:rPr>
              <a:t>SENIOR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What I'd point at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Both vertical depth and horizontal breadth — balanced across the 5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700" b="1">
                <a:solidFill>
                  <a:srgbClr val="E8ECF8"/>
                </a:solidFill>
                <a:latin typeface="Segoe UI"/>
              </a:rPr>
              <a:t>Source-of-truth design:</a:t>
            </a:r>
            <a:r>
              <a:rPr sz="1700" b="0">
                <a:solidFill>
                  <a:srgbClr val="9FB0D6"/>
                </a:solidFill>
                <a:latin typeface="Segoe UI"/>
              </a:rPr>
              <a:t> Adjust vs Unity vs Meta measure different scopes — modelled deliberately, labelled, never silently mixed.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700" b="1">
                <a:solidFill>
                  <a:srgbClr val="E8ECF8"/>
                </a:solidFill>
                <a:latin typeface="Segoe UI"/>
              </a:rPr>
              <a:t>Correctness judgement:</a:t>
            </a:r>
            <a:r>
              <a:rPr sz="1700" b="0">
                <a:solidFill>
                  <a:srgbClr val="9FB0D6"/>
                </a:solidFill>
                <a:latin typeface="Segoe UI"/>
              </a:rPr>
              <a:t> caught the IAP `amount` inflation bug; centralised the fix so every mart reconciles on one definition.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700" b="1">
                <a:solidFill>
                  <a:srgbClr val="E8ECF8"/>
                </a:solidFill>
                <a:latin typeface="Segoe UI"/>
              </a:rPr>
              <a:t>Idempotent incrementals:</a:t>
            </a:r>
            <a:r>
              <a:rPr sz="1700" b="0">
                <a:solidFill>
                  <a:srgbClr val="9FB0D6"/>
                </a:solidFill>
                <a:latin typeface="Segoe UI"/>
              </a:rPr>
              <a:t> insert_overwrite + lookback windows handle retroactive attribution without duplicates.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700" b="1">
                <a:solidFill>
                  <a:srgbClr val="E8ECF8"/>
                </a:solidFill>
                <a:latin typeface="Segoe UI"/>
              </a:rPr>
              <a:t>Governance as code:</a:t>
            </a:r>
            <a:r>
              <a:rPr sz="1700" b="0">
                <a:solidFill>
                  <a:srgbClr val="9FB0D6"/>
                </a:solidFill>
                <a:latin typeface="Segoe UI"/>
              </a:rPr>
              <a:t> PII hashing, policy-tag design, grants, secrets in env — all version-controlled and reviewed in PRs.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1">
                <a:solidFill>
                  <a:srgbClr val="5B8CFF"/>
                </a:solidFill>
                <a:latin typeface="Segoe UI"/>
              </a:rPr>
              <a:t>▪  </a:t>
            </a:r>
            <a:r>
              <a:rPr sz="1700" b="1">
                <a:solidFill>
                  <a:srgbClr val="E8ECF8"/>
                </a:solidFill>
                <a:latin typeface="Segoe UI"/>
              </a:rPr>
              <a:t>Cheap, safe CI:</a:t>
            </a:r>
            <a:r>
              <a:rPr sz="1700" b="0">
                <a:solidFill>
                  <a:srgbClr val="9FB0D6"/>
                </a:solidFill>
                <a:latin typeface="Segoe UI"/>
              </a:rPr>
              <a:t> Slim CI builds only what changed into a disposable dataset; production is never touched by a pull request.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6D0A8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What I'd build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Honest about current limits — and how I'd close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84832"/>
            <a:ext cx="50800" cy="1545335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📈 IAP + ad cohort LTV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Ingest the Adjust Cohorts API to add ad-revenue LTV and true d28 ROAS (Firebase ad events carry no $ value today).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84832"/>
            <a:ext cx="50800" cy="1545335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84832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👥 Exact DAU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Re-pull Unity without clientVersion in groupBy to remove the DAU double-count upper bound.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42231"/>
            <a:ext cx="50800" cy="1545335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🧊 Snapshots / SCD2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dbt snapshots on slowly-changing campaign metadata for point-in-time attribution.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12080" cy="1874519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142231"/>
            <a:ext cx="50800" cy="1545335"/>
          </a:xfrm>
          <a:prstGeom prst="rect">
            <a:avLst/>
          </a:prstGeom>
          <a:solidFill>
            <a:srgbClr val="FF6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42231"/>
            <a:ext cx="4754880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🔔 Anomaly alerts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9FB0D6"/>
                </a:solidFill>
                <a:latin typeface="Segoe UI"/>
              </a:rPr>
              <a:t>Elementary / freshness + volume anomaly tests piped to Slack on the daily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6D0A8"/>
                </a:solidFill>
                <a:latin typeface="Segoe UI"/>
              </a:rPr>
              <a:t>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Time-boxed walkthrough (Show → Why → What-if)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Full script: docs/demo_plan.md · keep answers concise, breadth =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234440" cy="5486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6D0A8"/>
                </a:solidFill>
                <a:latin typeface="Consolas"/>
              </a:rPr>
              <a:t>00–05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74519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Intro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0D6"/>
                </a:solidFill>
                <a:latin typeface="Segoe UI"/>
              </a:rPr>
              <a:t>Business problem + the metric + repo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78023"/>
            <a:ext cx="1234440" cy="5486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78023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B8CFF"/>
                </a:solidFill>
                <a:latin typeface="Consolas"/>
              </a:rPr>
              <a:t>05–20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478023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78023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0D6"/>
                </a:solidFill>
                <a:latin typeface="Segoe UI"/>
              </a:rPr>
              <a:t>DAG/ERD, layers, one mart's grain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81527"/>
            <a:ext cx="1234440" cy="5486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81527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B8CFF"/>
                </a:solidFill>
                <a:latin typeface="Consolas"/>
              </a:rPr>
              <a:t>20–35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081527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81527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0D6"/>
                </a:solidFill>
                <a:latin typeface="Segoe UI"/>
              </a:rPr>
              <a:t>dbt build a mart; macros; incrementals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85031"/>
            <a:ext cx="1234440" cy="5486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85031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B8CFF"/>
                </a:solidFill>
                <a:latin typeface="Consolas"/>
              </a:rPr>
              <a:t>35–50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685031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85031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0D6"/>
                </a:solidFill>
                <a:latin typeface="Segoe UI"/>
              </a:rPr>
              <a:t>tests run; PII hashing; secrets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288535"/>
            <a:ext cx="1234440" cy="5486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88535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B8CFF"/>
                </a:solidFill>
                <a:latin typeface="Consolas"/>
              </a:rPr>
              <a:t>50–65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288535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88535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0D6"/>
                </a:solidFill>
                <a:latin typeface="Segoe UI"/>
              </a:rPr>
              <a:t>semantic metrics; exposures; ROAS query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892039"/>
            <a:ext cx="1234440" cy="5486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92039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B8CFF"/>
                </a:solidFill>
                <a:latin typeface="Consolas"/>
              </a:rPr>
              <a:t>65–80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892039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DataOps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892039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0D6"/>
                </a:solidFill>
                <a:latin typeface="Segoe UI"/>
              </a:rPr>
              <a:t>CI/CD walkthrough; branching; rollback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495543"/>
            <a:ext cx="1234440" cy="5486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495543"/>
            <a:ext cx="1234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B547"/>
                </a:solidFill>
                <a:latin typeface="Consolas"/>
              </a:rPr>
              <a:t>80–90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5495543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ECF8"/>
                </a:solidFill>
                <a:latin typeface="Segoe UI"/>
              </a:rPr>
              <a:t>Q&amp;A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495543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0D6"/>
                </a:solidFill>
                <a:latin typeface="Segoe UI"/>
              </a:rPr>
              <a:t>caveats, scope mismatch, the bug I fixed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080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3657600" cy="50800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B547"/>
                </a:solidFill>
                <a:latin typeface="Segoe UI"/>
              </a:rPr>
              <a:t>BONUS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402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8ECF8"/>
                </a:solidFill>
                <a:latin typeface="Segoe UI"/>
              </a:rPr>
              <a:t>Anticipated Q&amp;A — with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D6"/>
                </a:solidFill>
                <a:latin typeface="Segoe UI"/>
              </a:rPr>
              <a:t>The questions I expect, and how I'd answer them under the Show → Why → What-if frame.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547"/>
                </a:solidFill>
                <a:latin typeface="Segoe UI"/>
              </a:rPr>
              <a:t>BONUS Q&amp;A ·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 Modeling &amp;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75104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Why medallion + Kimball, not Data Vault or 3NF?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Single small team, analytics-first, fast-moving sources. Medallion gives clear testable layers; dimensional facts on conformed dims keep BI simple. Data Vault's hubs/links/sats add ingestion overhead we don't need at this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50792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97096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Why long-format facts instead of wide columns?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spender_segment, step_num and days_since_install are dimensions, not columns. As rows, adding D45 LTV or a new segment is a config bump (max_dsi) — no schema change, no BI rework, and aggregations stay summable.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547"/>
                </a:solidFill>
                <a:latin typeface="Segoe UI"/>
              </a:rPr>
              <a:t>BONUS Q&amp;A ·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Architecture (cont.)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75104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Why are staging views but marts incremental tables?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Staging is light passthrough — views cost nothing and are always fresh. Marts back dashboards and scan history, so we materialise them, partition by date and cluster on hot keys to cut cost and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50792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97096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How do you keep metrics consistent across marts?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Conformed dimensions + shared macros (iap_value_usd) + a semantic layer. One definition, referenced everywhere, so ROAS means the same thing in every mart and every dashboard.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547"/>
                </a:solidFill>
                <a:latin typeface="Segoe UI"/>
              </a:rPr>
              <a:t>BONUS Q&amp;A ·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 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75104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Why insert_overwrite over merge for incrementals?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Adjust/Firebase mutate retroactively. insert_overwrite atomically replaces whole date partitions, so re-running the 14/44-day window is idempotent and dupe-free — cheaper than a row-level merge on BigQuery.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50792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97096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Why a macro for the GA4 flattening — what's the trade-off?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The daily and intraday shards must project identical columns or the UNION fails. One macro guarantees that and removes ~120 duplicated lines. Trade-off: a layer of indirection — mitigated by clear naming + comments.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547"/>
                </a:solidFill>
                <a:latin typeface="Segoe UI"/>
              </a:rPr>
              <a:t>BONUS Q&amp;A · GOVERNANCE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Quality &amp;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75104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How do you protect PII but keep joins working?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Deterministic salted SHA-256: same input → same hash, so joins on the hash still work, but the raw id is never stored. Salt comes from env (DBT_PII_SALT), defeating rainbow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50792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97096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Hashing vs dynamic data masking vs policy tags — when each?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Hash when the raw value is never needed downstream (user_id). Policy tags + dynamic masking when privileged roles still need the real value (geo, pseudo_id). Authorized views + IAM control who reaches the raw layer at 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547"/>
                </a:solidFill>
                <a:latin typeface="Segoe UI"/>
              </a:rPr>
              <a:t>BONUS Q&amp;A · GOVERNANCE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Quality &amp; Security (cont.)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75104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How do you keep CI green but still catch data drift?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Severity strategy: hard invariants (grain uniqueness, null keys, future dates) are errors; noisy range expectations are warnings. Build stays green; drift still surfaces in the CI log and docs.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50792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97096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A revenue number looks wrong — how do you debug it?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Exactly how I found the retention_cohorts bug: trace to the single definition. It summed the generic `amount` coin param as USD across all events. Fix was centralising iap_value_usd() so all marts reconcile — now covered by a singular test.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547"/>
                </a:solidFill>
                <a:latin typeface="Segoe UI"/>
              </a:rPr>
              <a:t>BONUS Q&amp;A · DATA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75104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Why a semantic layer instead of metrics in the BI tool?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Define once, consume everywhere (BI, notebooks, ad-hoc) with governed numerator/denominator so nobody AVG()s a rate. BI-only metrics drift between dashboards and can't be reused or tested.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50792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97096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Why don't Adjust, Unity and Meta ROAS reconcile — is that a bug?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No — different scopes. Adjust = paid-UA attributed users; Unity = whole game; Meta = its own view-through attribution. They measure different populations; dashboards label them distinctly rather than forcing a false match.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547"/>
                </a:solidFill>
                <a:latin typeface="Segoe UI"/>
              </a:rPr>
              <a:t>BONUS Q&amp;A · DATAOPS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DataOps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75104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How does a PR get validated without touching production?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Slim CI: build only state:modified+ into a throwaway dataset (dbt_ci_pr_&lt;n&gt;), deferring unchanged refs to the prod manifest, run their tests, then drop the dataset. Prod is never written by a PR.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50792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97096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How do you roll back a bad deploy?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Releases are tagged on main; redeploy the previous tag. Because marts are partition-replace incrementals, re-running a known-good commit restores state; --full-refresh rebuilds from source if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547"/>
                </a:solidFill>
                <a:latin typeface="Segoe UI"/>
              </a:rPr>
              <a:t>BONUS Q&amp;A · LIVE “WHAT-IF”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CF8"/>
                </a:solidFill>
                <a:latin typeface="Segoe UI"/>
              </a:rPr>
              <a:t>Extensions I'm ready to do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19088"/>
            <a:ext cx="10607040" cy="12700"/>
          </a:xfrm>
          <a:prstGeom prst="rect">
            <a:avLst/>
          </a:prstGeom>
          <a:solidFill>
            <a:srgbClr val="2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AA3"/>
                </a:solidFill>
                <a:latin typeface="Segoe UI"/>
              </a:rPr>
              <a:t>Also ready: add a new metric to the semantic layer, write a singular test, add a masking policy —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75104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75104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Add D45 / D60 to the LTV curve?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Bump max_dsi in cohort_ltv_daily, widen the incremental window, dbt run --full-refresh. Long format means no schema change and the BI curve just extends.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50792"/>
            <a:ext cx="10561320" cy="1993392"/>
          </a:xfrm>
          <a:prstGeom prst="roundRect">
            <a:avLst/>
          </a:prstGeom>
          <a:solidFill>
            <a:srgbClr val="16203F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97096"/>
            <a:ext cx="50800" cy="170078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97096"/>
            <a:ext cx="100584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B547"/>
                </a:solidFill>
                <a:latin typeface="Segoe UI"/>
              </a:rPr>
              <a:t>Q.  </a:t>
            </a:r>
            <a:r>
              <a:rPr sz="1500" b="1">
                <a:solidFill>
                  <a:srgbClr val="E8ECF8"/>
                </a:solidFill>
                <a:latin typeface="Segoe UI"/>
              </a:rPr>
              <a:t>Onboard a new ad network tomorrow?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6D0A8"/>
                </a:solidFill>
                <a:latin typeface="Segoe UI"/>
              </a:rPr>
              <a:t>A.  </a:t>
            </a:r>
            <a:r>
              <a:rPr sz="1350" b="0">
                <a:solidFill>
                  <a:srgbClr val="9FB0D6"/>
                </a:solidFill>
                <a:latin typeface="Segoe UI"/>
              </a:rPr>
              <a:t>Add the raw table + src yml, a stg_&lt;src&gt;__* view, then fold into ua_performance_daily (keeps the source-of-truth pattern) — or a dedicated mart if the grain differs.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08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3657600" cy="50800"/>
          </a:xfrm>
          <a:prstGeom prst="rect">
            <a:avLst/>
          </a:prstGeom>
          <a:solidFill>
            <a:srgbClr val="26D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6D0A8"/>
                </a:solidFill>
                <a:latin typeface="Segoe UI"/>
              </a:rPr>
              <a:t>LET'S DIG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94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E8ECF8"/>
                </a:solidFill>
                <a:latin typeface="Segoe UI"/>
              </a:rPr>
              <a:t>Live demo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0D6"/>
                </a:solidFill>
                <a:latin typeface="Segoe UI"/>
              </a:rPr>
              <a:t>Repo is navigable · dbt parses clean · tests pass · semantic metrics &amp; dashboards ready.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2331720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11396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README.md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297680"/>
            <a:ext cx="2331720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4311396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docs/demo_plan.md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4297680"/>
            <a:ext cx="2331720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311396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docs/architecture.md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97680"/>
            <a:ext cx="2331720" cy="384048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6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311396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547"/>
                </a:solidFill>
                <a:latin typeface="Consolas"/>
              </a:rPr>
              <a:t>marts/README.md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7AA3"/>
                </a:solidFill>
                <a:latin typeface="Consolas"/>
              </a:rPr>
              <a:t>Thank you — Analytics Engineering · TPF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